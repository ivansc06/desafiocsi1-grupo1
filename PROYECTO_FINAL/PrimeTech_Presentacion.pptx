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Arial Black"/>
              </a:rPr>
              <a:t>PRIME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CCFF"/>
                </a:solidFill>
                <a:latin typeface="Arial Black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146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C4D8"/>
                </a:solidFill>
                <a:latin typeface="Calibri"/>
              </a:rPr>
              <a:t>La solución integral para la gestión de tu tienda de informática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A99"/>
                </a:solidFill>
                <a:latin typeface="Calibri"/>
              </a:rPr>
              <a:t>Productos  ·  Ventas  ·  Clientes  ·  Dashboard  ·  Facturas  · 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817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Grupo 1  ·  1º DAM  ·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6817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0CCFF"/>
                </a:solidFill>
                <a:latin typeface="Calibri"/>
              </a:rPr>
              <a:t>Java · MySQL · Swing · BCrypt · SSL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¿Qué problema resolvemos?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65176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CF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17627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Arial Black"/>
              </a:rPr>
              <a:t>Gestión manual y sin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Hojas de cálculo, anotaciones en papel y errores constantes. Cada operación cuesta tiempo y dinero innecesario.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344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234440"/>
            <a:ext cx="265176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CFF"/>
                </a:solidFill>
                <a:latin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17627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Arial Black"/>
              </a:rPr>
              <a:t>Inventario sin visibilidad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432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Roturas de stock inesperadas, pérdidas económicas y clientes que se marchan a la competencia por falta de producto.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23444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59" y="1234440"/>
            <a:ext cx="265176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4173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CFF"/>
                </a:solidFill>
                <a:latin typeface="Arial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176272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Arial Black"/>
              </a:rPr>
              <a:t>Sin datos del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Sin métricas no puedes saber qué vendes más, cuánto ingresas ni dónde están los márgenes de mejora.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00CCFF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Prime Tech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5943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8"/>
                </a:solidFill>
                <a:latin typeface="Calibri"/>
              </a:rPr>
              <a:t>Software de gestión completo para tiendas de informática.
Desarrollado con tecnología de nivel empresarial,
pensado para el día a día del negocio.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37560"/>
            <a:ext cx="2651760" cy="1508760"/>
          </a:xfrm>
          <a:prstGeom prst="rect">
            <a:avLst/>
          </a:prstGeom>
          <a:solidFill>
            <a:srgbClr val="152232"/>
          </a:solidFill>
          <a:ln w="63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401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CFF"/>
                </a:solidFill>
                <a:latin typeface="Arial Black"/>
              </a:rPr>
              <a:t>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Productos, ventas,
clientes, facturas,
dashboard y 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337560"/>
            <a:ext cx="2651760" cy="1508760"/>
          </a:xfrm>
          <a:prstGeom prst="rect">
            <a:avLst/>
          </a:prstGeom>
          <a:solidFill>
            <a:srgbClr val="152232"/>
          </a:solidFill>
          <a:ln w="63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3401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CFF"/>
                </a:solidFill>
                <a:latin typeface="Arial Black"/>
              </a:rPr>
              <a:t>SEGURO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BCrypt + SSL +
bloqueo automático
y roles de empleado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337560"/>
            <a:ext cx="2651760" cy="1508760"/>
          </a:xfrm>
          <a:prstGeom prst="rect">
            <a:avLst/>
          </a:prstGeom>
          <a:solidFill>
            <a:srgbClr val="152232"/>
          </a:solidFill>
          <a:ln w="63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401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CFF"/>
                </a:solidFill>
                <a:latin typeface="Arial Black"/>
              </a:rPr>
              <a:t>ESCALABLE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HikariCP + DAO +
multiplataforma
Windows / Linux / Mac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Funcionalidades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051560"/>
            <a:ext cx="27432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051560"/>
            <a:ext cx="54864" cy="1874519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247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FF"/>
                </a:solidFill>
                <a:latin typeface="Arial Black"/>
              </a:rPr>
              <a:t>PRODUCTOS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35607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Gestión de Productos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56231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9"/>
                </a:solidFill>
                <a:latin typeface="Calibri"/>
              </a:rPr>
              <a:t>Alta, baja y edición. Búsqueda instantánea. Alertas visuales de stock: naranja (crítico), amarillo (bajo), verde (bien abastecido).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3824" y="1051560"/>
            <a:ext cx="27432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3824" y="1051560"/>
            <a:ext cx="54864" cy="1874519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247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FF"/>
                </a:solidFill>
                <a:latin typeface="Arial Black"/>
              </a:rPr>
              <a:t>VENTAS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435607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Registro de Ventas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56231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9"/>
                </a:solidFill>
                <a:latin typeface="Calibri"/>
              </a:rPr>
              <a:t>Carrito de compra con selección de cliente y método de pago. Cálculo automático del total y restauración de stock al anular.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1616" y="1051560"/>
            <a:ext cx="27432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71616" y="1051560"/>
            <a:ext cx="54864" cy="1874519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12471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FF"/>
                </a:solidFill>
                <a:latin typeface="Arial Black"/>
              </a:rPr>
              <a:t>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435607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Gestión de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856231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9"/>
                </a:solidFill>
                <a:latin typeface="Calibri"/>
              </a:rPr>
              <a:t>Particulares y empresas con todos sus datos de contacto, vinculados automáticamente a sus ventas.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063240"/>
            <a:ext cx="27432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063240"/>
            <a:ext cx="54864" cy="1874519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13639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FF"/>
                </a:solidFill>
                <a:latin typeface="Arial Black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447288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Dashboard en 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867912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9"/>
                </a:solidFill>
                <a:latin typeface="Calibri"/>
              </a:rPr>
              <a:t>Gráfica de barras (ventas últimos 7 días) y tarta (top 5 productos más vendidos). Se actualiza al instante.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63824" y="3063240"/>
            <a:ext cx="27432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63824" y="3063240"/>
            <a:ext cx="54864" cy="1874519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13639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FF"/>
                </a:solidFill>
                <a:latin typeface="Arial Black"/>
              </a:rPr>
              <a:t>FACTURAS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447288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Facturas + QR +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867912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9"/>
                </a:solidFill>
                <a:latin typeface="Calibri"/>
              </a:rPr>
              <a:t>Factura HTML profesional con código QR incrustado. Envío automático al email del cliente tras cada venta.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1616" y="3063240"/>
            <a:ext cx="27432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1616" y="3063240"/>
            <a:ext cx="54864" cy="1874519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3136392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FF"/>
                </a:solidFill>
                <a:latin typeface="Arial Black"/>
              </a:rPr>
              <a:t>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447288"/>
            <a:ext cx="2542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Exportar a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867912"/>
            <a:ext cx="2542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9"/>
                </a:solidFill>
                <a:latin typeface="Calibri"/>
              </a:rPr>
              <a:t>Exportación completa de productos, ventas y clientes en .xlsx con un solo clic desde cualquier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Arial Black"/>
              </a:rPr>
              <a:t>Facturas HTML y código QR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4114800" cy="3840480"/>
          </a:xfrm>
          <a:prstGeom prst="rect">
            <a:avLst/>
          </a:prstGeom>
          <a:solidFill>
            <a:srgbClr val="152232"/>
          </a:solidFill>
          <a:ln w="1016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CFF"/>
                </a:solidFill>
                <a:latin typeface="Arial Black"/>
              </a:rPr>
              <a:t>FACTURA 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Generada automáticamente al confirmar la venta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Diseño profesional con CSS incrustado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Incluye datos del cliente, artículos,
totales, método de pago y fecha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Se abre en cualquier navegador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Guardada localmente en el sistema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51560"/>
            <a:ext cx="4114800" cy="3840480"/>
          </a:xfrm>
          <a:prstGeom prst="rect">
            <a:avLst/>
          </a:prstGeom>
          <a:solidFill>
            <a:srgbClr val="152232"/>
          </a:solidFill>
          <a:ln w="10160">
            <a:solidFill>
              <a:srgbClr val="00B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51560"/>
            <a:ext cx="4114800" cy="91440"/>
          </a:xfrm>
          <a:prstGeom prst="rect">
            <a:avLst/>
          </a:prstGeom>
          <a:solidFill>
            <a:srgbClr val="00BB77"/>
          </a:solidFill>
          <a:ln>
            <a:solidFill>
              <a:srgbClr val="00B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1704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B77"/>
                </a:solidFill>
                <a:latin typeface="Arial Black"/>
              </a:rPr>
              <a:t>CÓDIGO 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9164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Generado con ZXing 3.5.3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8600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Incrustado en la factura 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8036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Contiene el resumen completo
de la compra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7472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Escaneable con cualquier móvil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69080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→  Trazabilidad total de cada transacción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Envío de facturas por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4864" cy="9144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24712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Con un solo clic tras confirmar la venta, la aplicación envía la factura HTML completa al correo electrónico del cliente mediante Gmail SMTP.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201168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Arial Black"/>
              </a:rPr>
              <a:t>JavaMail 2.0.1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9"/>
                </a:solidFill>
                <a:latin typeface="Calibri"/>
              </a:rPr>
              <a:t>Librería oficial de
Java para envío
de correo electrónico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19456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2194560"/>
            <a:ext cx="201168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Arial Black"/>
              </a:rPr>
              <a:t>Gmail SMTP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9"/>
                </a:solidFill>
                <a:latin typeface="Calibri"/>
              </a:rPr>
              <a:t>Protocolo seguro
por el puerto 587
con autenticación TLS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19456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2194560"/>
            <a:ext cx="201168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Arial Black"/>
              </a:rPr>
              <a:t>email.properties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9"/>
                </a:solidFill>
                <a:latin typeface="Calibri"/>
              </a:rPr>
              <a:t>Credenciales fuera
del repositorio
(.gitignore)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19456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194560"/>
            <a:ext cx="201168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Arial Black"/>
              </a:rPr>
              <a:t>HTML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9"/>
                </a:solidFill>
                <a:latin typeface="Calibri"/>
              </a:rPr>
              <a:t>La factura se envía
en formato HTML,
con el QR incluido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F8E8"/>
          </a:solidFill>
          <a:ln w="63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6600"/>
                </a:solidFill>
                <a:latin typeface="Calibri"/>
              </a:rPr>
              <a:t>⚠  Las credenciales de email nunca se suben al repositorio. Se configuran localmente en email.properties.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Arial Black"/>
              </a:rPr>
              <a:t>Seguridad de nivel empresarial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8412480" cy="667512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FF"/>
                </a:solidFill>
                <a:latin typeface="Arial Black"/>
              </a:rPr>
              <a:t>01  BCrypt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188720"/>
            <a:ext cx="5760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Contraseñas cifradas con salt individual. Imposible revertir el hash aunque accedan a la base de datos.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8412480" cy="667512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47672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FF"/>
                </a:solidFill>
                <a:latin typeface="Arial Black"/>
              </a:rPr>
              <a:t>02  SSL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47672"/>
            <a:ext cx="5760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Toda la comunicación con MySQL viaja cifrada. Ningún intermediario puede leer los datos en tránsito.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8412480" cy="667512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06624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FF"/>
                </a:solidFill>
                <a:latin typeface="Arial Black"/>
              </a:rPr>
              <a:t>03  Bloqueo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06624"/>
            <a:ext cx="5760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Tras varios intentos erróneos el acceso queda bloqueado automáticamente. Protección contra fuerza bruta.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92424"/>
            <a:ext cx="8412480" cy="667512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65576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FF"/>
                </a:solidFill>
                <a:latin typeface="Arial Black"/>
              </a:rPr>
              <a:t>04  Inactividad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65576"/>
            <a:ext cx="5760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La sesión se cierra sola tras 3 minutos sin actividad. Evita accesos no autorizados si el empleado se ausenta.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51376"/>
            <a:ext cx="8412480" cy="667512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CFF"/>
                </a:solidFill>
                <a:latin typeface="Arial Black"/>
              </a:rPr>
              <a:t>05 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224528"/>
            <a:ext cx="5760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Cada empleado tiene su propio acceso con cargo diferenciado. Control total de quién hace qué.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Escalabilidad y compatibilidad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051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051560"/>
            <a:ext cx="274320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CFF"/>
                </a:solidFill>
                <a:latin typeface="Arial Black"/>
              </a:rPr>
              <a:t>RENDIMIENTO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5727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Arial Black"/>
              </a:rPr>
              <a:t>Alto rendimiento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1762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HikariCP: pool de conexiones múltiples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Sin esperas — conexiones reutilizadas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3101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Dos pools independientes: app y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87705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Soporta múltiples usuarios simultáneos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63824" y="1051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63824" y="1051560"/>
            <a:ext cx="274320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3824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CFF"/>
                </a:solidFill>
                <a:latin typeface="Arial Black"/>
              </a:rPr>
              <a:t>PLATAFORMAS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15727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Arial Black"/>
              </a:rPr>
              <a:t>Multiplataforma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21762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Windows  (.bat script incluido)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984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Linux / Mac  (.sh script incluido)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33101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Solo requiere Java 8 o superior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" y="387705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Sin instalador — ZIP listo para usar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1051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71616" y="1051560"/>
            <a:ext cx="2743200" cy="914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1188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CFF"/>
                </a:solidFill>
                <a:latin typeface="Arial Black"/>
              </a:rPr>
              <a:t>ARQUITECTURA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15727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Arial Black"/>
              </a:rPr>
              <a:t>Arquitectura limpia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1762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Patrón DAO — lógica separada de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Fácil de ampliar con nuevas tablas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3101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Log4j2 — trazabilidad de operaciones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87705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A99"/>
                </a:solidFill>
                <a:latin typeface="Calibri"/>
              </a:rPr>
              <a:t>→  CI/CD automático con 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Arial Black"/>
              </a:rPr>
              <a:t>Stack tecnológico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84124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22960"/>
                <a:gridCol w="5486400"/>
              </a:tblGrid>
              <a:tr h="39776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Tecnología</a:t>
                      </a:r>
                    </a:p>
                  </a:txBody>
                  <a:tcP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Versión</a:t>
                      </a:r>
                    </a:p>
                  </a:txBody>
                  <a:tcPr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00CC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Java + Swing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Interfaz gráfica multiplataforma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Base de datos relacional con SSL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HikariCP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4.0.3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Pool de conexiones de alto rendimiento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FlatLaf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Look &amp; Feel moderno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Apache POI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5.3.0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Exportación a Excel (.xlsx)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JavaMail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2.0.1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Envío de facturas por email (SMTP)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JFreeChart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1.5.4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Gráficas del dashboard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ZXing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3.5.3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Generación de códigos QR</a:t>
                      </a:r>
                    </a:p>
                  </a:txBody>
                  <a:tcPr>
                    <a:solidFill>
                      <a:srgbClr val="101D2E"/>
                    </a:solidFill>
                  </a:tcPr>
                </a:tc>
              </a:tr>
              <a:tr h="3977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Log4j2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2.25.4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0C4D8"/>
                          </a:solidFill>
                          <a:latin typeface="Calibri"/>
                        </a:defRPr>
                      </a:pPr>
                      <a:r>
                        <a:t>Sistema de logs y auditoría</a:t>
                      </a:r>
                    </a:p>
                  </a:txBody>
                  <a:tcPr>
                    <a:solidFill>
                      <a:srgbClr val="15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"/>
            <a:ext cx="5486400" cy="4937760"/>
          </a:xfrm>
          <a:prstGeom prst="ellipse">
            <a:avLst/>
          </a:prstGeom>
          <a:solidFill>
            <a:srgbClr val="004455"/>
          </a:solidFill>
          <a:ln>
            <a:solidFill>
              <a:srgbClr val="00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Arial Black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CCFF"/>
                </a:solidFill>
                <a:latin typeface="Arial Black"/>
              </a:rPr>
              <a:t>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C4D8"/>
                </a:solidFill>
                <a:latin typeface="Calibri"/>
              </a:rPr>
              <a:t>Exploremos la aplicación juntos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Arial Black"/>
              </a:rPr>
              <a:t>¿Por qué elegirnos?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64008" cy="16916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CF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527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Todo en 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56232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Productos, ventas, clientes, facturas, dashboard y exportación. Un único sistema para todo el negocio.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143000"/>
            <a:ext cx="4114800" cy="1691640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143000"/>
            <a:ext cx="64008" cy="16916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CFF"/>
                </a:solidFill>
                <a:latin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2527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Seguro desde el diseño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856232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BCrypt, SSL, bloqueo por intentos y roles de empleado. Seguridad real sin configuración adicional.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CFF"/>
                </a:solidFill>
                <a:latin typeface="Arial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27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Listo para crecer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730752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HikariCP soporta múltiples usuarios simultáneos. Arquitectura DAO fácil de ampliar con nuevas funciones.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017520"/>
            <a:ext cx="4114800" cy="1691640"/>
          </a:xfrm>
          <a:prstGeom prst="rect">
            <a:avLst/>
          </a:prstGeom>
          <a:solidFill>
            <a:srgbClr val="152232"/>
          </a:solidFill>
          <a:ln>
            <a:solidFill>
              <a:srgbClr val="15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3017520"/>
            <a:ext cx="64008" cy="1691640"/>
          </a:xfrm>
          <a:prstGeom prst="rect">
            <a:avLst/>
          </a:prstGeom>
          <a:solidFill>
            <a:srgbClr val="00CCFF"/>
          </a:solidFill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CFF"/>
                </a:solidFill>
                <a:latin typeface="Arial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12724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Sin complicaciones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730752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Descarga el ZIP, configura la base de datos y arranca. Compatible con Windows, Linux y Mac.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7A99"/>
                </a:solidFill>
                <a:latin typeface="Calibri"/>
              </a:rPr>
              <a:t>Prime Tech Systems  —  Grupo 1  ·  1º DAM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